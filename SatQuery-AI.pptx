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2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837CD4-9099-4679-AA5D-C4F8873BAB08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BF1D519-D95A-4FE1-844B-DBDE9C286C1A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DFDEA91-E9CF-4CFC-80F8-189FF3221CF5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7FA9DAF-16D0-475C-BEE7-D098BD58A9A0}" type="datetime1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7DD4A10-BE5E-4724-B38F-6A56D96CB73F}" type="datetime1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942A8F7-EA9B-46F0-9349-121CBEE8DB7E}" type="datetime1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69D8247-2EFF-4BC5-8323-19DF9FEA2823}" type="datetime1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E3FCBAA-EE52-4961-9C5B-F24C67DC0F6D}" type="datetime1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06B9CD1-4510-4C03-B247-1BCBBB11E9B2}" type="datetime1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681FD59-497E-4893-9944-9E9A0F4E8316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6CB2101-BEA4-4E81-B573-85947781CA33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214AB32D-E9E2-449A-9869-0F02AA856CF7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jpe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arxiv.org/abs/2406.07089" TargetMode="External"/><Relationship Id="rId3" Type="http://schemas.openxmlformats.org/officeDocument/2006/relationships/hyperlink" Target="https://rsvqa.sylvainlobry.com/" TargetMode="External"/><Relationship Id="rId7" Type="http://schemas.openxmlformats.org/officeDocument/2006/relationships/hyperlink" Target="github.com/intellisensing/rs-agent" TargetMode="External"/><Relationship Id="rId12" Type="http://schemas.openxmlformats.org/officeDocument/2006/relationships/image" Target="../media/image1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arxiv.org/abs/2311.15826" TargetMode="External"/><Relationship Id="rId11" Type="http://schemas.openxmlformats.org/officeDocument/2006/relationships/image" Target="../media/image2.png"/><Relationship Id="rId5" Type="http://schemas.openxmlformats.org/officeDocument/2006/relationships/hyperlink" Target="github.com/mbzuai-oryx/GeoChat" TargetMode="External"/><Relationship Id="rId10" Type="http://schemas.openxmlformats.org/officeDocument/2006/relationships/hyperlink" Target="bhuvan.nrsc.gov.in" TargetMode="External"/><Relationship Id="rId4" Type="http://schemas.openxmlformats.org/officeDocument/2006/relationships/hyperlink" Target="arxiv.org/abs/2003.07333" TargetMode="External"/><Relationship Id="rId9" Type="http://schemas.openxmlformats.org/officeDocument/2006/relationships/hyperlink" Target="mediatum.ub.tum.d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0" y="0"/>
            <a:ext cx="236985" cy="205208"/>
          </a:xfrm>
        </p:spPr>
        <p:txBody>
          <a:bodyPr/>
          <a:lstStyle/>
          <a:p>
            <a:r>
              <a:rPr lang="en-US" sz="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57726" y="1078737"/>
            <a:ext cx="5924550" cy="49636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26167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IN" sz="2400" b="1" dirty="0" err="1"/>
              <a:t>SatQuery</a:t>
            </a:r>
            <a:r>
              <a:rPr lang="en-IN" sz="2400" b="1" dirty="0"/>
              <a:t> AI </a:t>
            </a:r>
            <a:r>
              <a:rPr lang="en-IN" dirty="0"/>
              <a:t>- An Interactive Vision-Language Assistant for Multimodal Remote Sensing Image Analysis through Text Queries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Space Technology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SIH-EL 15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Heisenbugs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-200460" y="-216387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 err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SatQuery</a:t>
            </a: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AI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392000" y="1231387"/>
            <a:ext cx="6750000" cy="2457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1" i="0" dirty="0">
                <a:solidFill>
                  <a:srgbClr val="1E2761"/>
                </a:solidFill>
                <a:latin typeface="Arial"/>
              </a:rPr>
              <a:t>Proposed Solution</a:t>
            </a:r>
          </a:p>
          <a:p>
            <a:pPr marL="228600" indent="-228600" algn="l">
              <a:spcAft>
                <a:spcPts val="600"/>
              </a:spcAft>
              <a:buFont typeface="Arial" pitchFamily="34" charset="0"/>
              <a:buChar char="•"/>
            </a:pPr>
            <a:r>
              <a:rPr sz="1250" b="0" i="0" dirty="0">
                <a:solidFill>
                  <a:srgbClr val="333333"/>
                </a:solidFill>
                <a:latin typeface="Arial"/>
              </a:rPr>
              <a:t>Ask a question in plain English</a:t>
            </a:r>
            <a:r>
              <a:rPr lang="en-IN" sz="1250" b="0" i="0" dirty="0">
                <a:solidFill>
                  <a:srgbClr val="333333"/>
                </a:solidFill>
                <a:latin typeface="Arial"/>
              </a:rPr>
              <a:t> and upload the image required</a:t>
            </a:r>
            <a:r>
              <a:rPr sz="1250" b="0" i="0" dirty="0">
                <a:solidFill>
                  <a:srgbClr val="333333"/>
                </a:solidFill>
                <a:latin typeface="Arial"/>
              </a:rPr>
              <a:t>, get an answer </a:t>
            </a:r>
            <a:r>
              <a:rPr lang="en-IN" sz="1250" dirty="0">
                <a:solidFill>
                  <a:srgbClr val="333333"/>
                </a:solidFill>
                <a:latin typeface="Arial"/>
              </a:rPr>
              <a:t>with respective model, </a:t>
            </a:r>
            <a:r>
              <a:rPr sz="1250" b="0" i="0" dirty="0">
                <a:solidFill>
                  <a:srgbClr val="333333"/>
                </a:solidFill>
                <a:latin typeface="Arial"/>
              </a:rPr>
              <a:t>no GIS software needed</a:t>
            </a:r>
            <a:r>
              <a:rPr lang="en-IN" sz="1250" b="0" i="0" dirty="0">
                <a:solidFill>
                  <a:srgbClr val="333333"/>
                </a:solidFill>
                <a:latin typeface="Arial"/>
              </a:rPr>
              <a:t>.</a:t>
            </a:r>
            <a:endParaRPr sz="1250" b="0" i="0" dirty="0">
              <a:solidFill>
                <a:srgbClr val="333333"/>
              </a:solidFill>
              <a:latin typeface="Arial"/>
            </a:endParaRPr>
          </a:p>
          <a:p>
            <a:pPr marL="228600" indent="-228600" algn="l">
              <a:spcAft>
                <a:spcPts val="600"/>
              </a:spcAft>
              <a:buFont typeface="Arial" pitchFamily="34" charset="0"/>
              <a:buChar char="•"/>
            </a:pPr>
            <a:r>
              <a:rPr sz="1250" b="0" i="0" dirty="0">
                <a:solidFill>
                  <a:srgbClr val="333333"/>
                </a:solidFill>
                <a:latin typeface="Arial"/>
              </a:rPr>
              <a:t>An AI agent reads the question and picks the right model: classifier, detector, change-detector, or SAR + optical fusion</a:t>
            </a:r>
            <a:r>
              <a:rPr lang="en-IN" sz="1250" b="0" i="0" dirty="0">
                <a:solidFill>
                  <a:srgbClr val="333333"/>
                </a:solidFill>
                <a:latin typeface="Arial"/>
              </a:rPr>
              <a:t>.</a:t>
            </a:r>
            <a:endParaRPr sz="1250" b="0" i="0" dirty="0">
              <a:solidFill>
                <a:srgbClr val="333333"/>
              </a:solidFill>
              <a:latin typeface="Arial"/>
            </a:endParaRPr>
          </a:p>
          <a:p>
            <a:pPr algn="l">
              <a:spcAft>
                <a:spcPts val="400"/>
              </a:spcAft>
              <a:buNone/>
            </a:pPr>
            <a:r>
              <a:rPr sz="1600" b="1" i="0" dirty="0">
                <a:solidFill>
                  <a:srgbClr val="1E2761"/>
                </a:solidFill>
                <a:latin typeface="Arial"/>
              </a:rPr>
              <a:t>Innovation &amp; Uniqueness</a:t>
            </a:r>
          </a:p>
          <a:p>
            <a:pPr marL="228600" indent="-228600" algn="l">
              <a:spcAft>
                <a:spcPts val="600"/>
              </a:spcAft>
              <a:buFont typeface="Arial" pitchFamily="34" charset="0"/>
              <a:buChar char="•"/>
            </a:pPr>
            <a:r>
              <a:rPr sz="1250" b="0" i="0" dirty="0">
                <a:solidFill>
                  <a:srgbClr val="333333"/>
                </a:solidFill>
                <a:latin typeface="Arial"/>
              </a:rPr>
              <a:t>The agent chooses its own tool for each question, and sees through clouds/night using radar data</a:t>
            </a:r>
          </a:p>
          <a:p>
            <a:pPr marL="228600" indent="-228600" algn="l">
              <a:spcAft>
                <a:spcPts val="0"/>
              </a:spcAft>
              <a:buFont typeface="Arial" pitchFamily="34" charset="0"/>
              <a:buChar char="•"/>
            </a:pPr>
            <a:r>
              <a:rPr sz="1250" b="0" i="0" dirty="0">
                <a:solidFill>
                  <a:srgbClr val="333333"/>
                </a:solidFill>
                <a:latin typeface="Arial"/>
              </a:rPr>
              <a:t>Every answer highlights exactly where on the image it's looking, so results can be checked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82998" y="221785"/>
            <a:ext cx="187265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Heisenbugs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Rounded Rectangle 15362"/>
          <p:cNvSpPr/>
          <p:nvPr/>
        </p:nvSpPr>
        <p:spPr>
          <a:xfrm>
            <a:off x="7631778" y="1488268"/>
            <a:ext cx="2887153" cy="4300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Arial"/>
              </a:rPr>
              <a:t>HOW IT WORKS</a:t>
            </a:r>
          </a:p>
        </p:txBody>
      </p:sp>
      <p:sp>
        <p:nvSpPr>
          <p:cNvPr id="15371" name="TextBox 15370"/>
          <p:cNvSpPr txBox="1"/>
          <p:nvPr/>
        </p:nvSpPr>
        <p:spPr>
          <a:xfrm>
            <a:off x="447559" y="3559300"/>
            <a:ext cx="67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 dirty="0">
                <a:solidFill>
                  <a:srgbClr val="1E2761"/>
                </a:solidFill>
                <a:latin typeface="Arial"/>
              </a:rPr>
              <a:t>Illustrative example — what a change-detection query returns: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783150-A7D5-6043-A8C1-A1D74AA992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000" y="3925343"/>
            <a:ext cx="6300566" cy="25965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53083F-62D2-E6CA-8514-4D7828F0E5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6920" y="2004692"/>
            <a:ext cx="2920140" cy="46659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53334" y="1295188"/>
            <a:ext cx="6507905" cy="3436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000" b="1" i="0" dirty="0">
                <a:solidFill>
                  <a:srgbClr val="1E2761"/>
                </a:solidFill>
                <a:latin typeface="Arial"/>
              </a:rPr>
              <a:t>Technology Stack</a:t>
            </a:r>
            <a:endParaRPr lang="en-US" sz="2000" b="1" i="0" dirty="0">
              <a:solidFill>
                <a:srgbClr val="1E2761"/>
              </a:solidFill>
              <a:latin typeface="Arial"/>
            </a:endParaRPr>
          </a:p>
          <a:p>
            <a:r>
              <a:rPr lang="en-IN" b="1" dirty="0"/>
              <a:t>Frontend:</a:t>
            </a:r>
            <a:r>
              <a:rPr lang="en-IN" dirty="0"/>
              <a:t> HTML5, CSS3, JavaScript, Leaflet.js, React</a:t>
            </a:r>
          </a:p>
          <a:p>
            <a:r>
              <a:rPr lang="en-IN" b="1" dirty="0"/>
              <a:t>Backend:</a:t>
            </a:r>
            <a:r>
              <a:rPr lang="en-IN" dirty="0"/>
              <a:t> Python, </a:t>
            </a:r>
            <a:r>
              <a:rPr lang="en-IN" dirty="0" err="1"/>
              <a:t>FastAPI</a:t>
            </a:r>
            <a:r>
              <a:rPr lang="en-IN" dirty="0"/>
              <a:t>, </a:t>
            </a:r>
            <a:r>
              <a:rPr lang="en-IN" dirty="0" err="1"/>
              <a:t>Uvicorn</a:t>
            </a:r>
            <a:endParaRPr lang="en-IN" dirty="0"/>
          </a:p>
          <a:p>
            <a:r>
              <a:rPr lang="en-IN" b="1" dirty="0"/>
              <a:t>AI/ML:</a:t>
            </a:r>
            <a:r>
              <a:rPr lang="en-IN" dirty="0"/>
              <a:t> </a:t>
            </a:r>
            <a:r>
              <a:rPr lang="en-IN" dirty="0" err="1"/>
              <a:t>PyTorch</a:t>
            </a:r>
            <a:r>
              <a:rPr lang="en-IN" dirty="0"/>
              <a:t>, </a:t>
            </a:r>
            <a:r>
              <a:rPr lang="en-IN" dirty="0" err="1"/>
              <a:t>HuggingFace</a:t>
            </a:r>
            <a:r>
              <a:rPr lang="en-IN" dirty="0"/>
              <a:t> Transformers, BLIP-1 (VQA), ResNet-50 via </a:t>
            </a:r>
            <a:r>
              <a:rPr lang="en-IN" dirty="0" err="1"/>
              <a:t>timm</a:t>
            </a:r>
            <a:r>
              <a:rPr lang="en-IN" dirty="0"/>
              <a:t> (</a:t>
            </a:r>
            <a:r>
              <a:rPr lang="en-IN" dirty="0" err="1"/>
              <a:t>EuroSAT</a:t>
            </a:r>
            <a:r>
              <a:rPr lang="en-IN" dirty="0"/>
              <a:t>), MobileNet-V3 (Change Detection), Dual ResNet-18 (SAR Fusion), SAM (Segmentation)</a:t>
            </a:r>
          </a:p>
          <a:p>
            <a:r>
              <a:rPr lang="en-IN" b="1" dirty="0"/>
              <a:t>Data Sources:</a:t>
            </a:r>
            <a:r>
              <a:rPr lang="en-IN" dirty="0"/>
              <a:t> Esri </a:t>
            </a:r>
            <a:r>
              <a:rPr lang="en-IN" dirty="0" err="1"/>
              <a:t>WorldImagery</a:t>
            </a:r>
            <a:r>
              <a:rPr lang="en-IN" dirty="0"/>
              <a:t>, NASA EONET v3, NASA GIBS (MODIS/NDVI), </a:t>
            </a:r>
            <a:r>
              <a:rPr lang="en-IN" dirty="0" err="1"/>
              <a:t>Nominatim</a:t>
            </a:r>
            <a:r>
              <a:rPr lang="en-IN" dirty="0"/>
              <a:t>/OSM</a:t>
            </a:r>
          </a:p>
          <a:p>
            <a:r>
              <a:rPr lang="en-IN" b="1" dirty="0"/>
              <a:t>Datasets:</a:t>
            </a:r>
            <a:r>
              <a:rPr lang="en-IN" dirty="0"/>
              <a:t> </a:t>
            </a:r>
            <a:r>
              <a:rPr lang="en-IN" dirty="0" err="1"/>
              <a:t>EuroSAT</a:t>
            </a:r>
            <a:r>
              <a:rPr lang="en-IN" dirty="0"/>
              <a:t>, LEVIR-CD, SEN12MS, RSVQA-LR, DOTA v2, ISRO Bhuvan</a:t>
            </a:r>
          </a:p>
          <a:p>
            <a:r>
              <a:rPr lang="en-IN" b="1" dirty="0"/>
              <a:t>LLM:</a:t>
            </a:r>
            <a:r>
              <a:rPr lang="en-IN" dirty="0"/>
              <a:t> </a:t>
            </a:r>
            <a:r>
              <a:rPr lang="en-IN" dirty="0" err="1"/>
              <a:t>Groq</a:t>
            </a:r>
            <a:r>
              <a:rPr lang="en-IN" dirty="0"/>
              <a:t> (llama3-70b), OpenAI GPT-4o</a:t>
            </a:r>
          </a:p>
          <a:p>
            <a:pPr algn="l">
              <a:spcAft>
                <a:spcPts val="400"/>
              </a:spcAft>
              <a:buNone/>
            </a:pPr>
            <a:endParaRPr lang="en-IN" sz="1600" b="1" i="0" dirty="0">
              <a:solidFill>
                <a:srgbClr val="1E2761"/>
              </a:solidFill>
              <a:latin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1398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Heisenbugs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2" name="Rounded Rectangle 17411"/>
          <p:cNvSpPr/>
          <p:nvPr/>
        </p:nvSpPr>
        <p:spPr>
          <a:xfrm>
            <a:off x="453334" y="4890030"/>
            <a:ext cx="11400000" cy="4000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Arial"/>
              </a:rPr>
              <a:t>HOW A QUERY GETS PROCESSED, STEP BY STEP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00000" y="5405754"/>
            <a:ext cx="2104000" cy="120000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 i="0" dirty="0">
                <a:solidFill>
                  <a:srgbClr val="1E2761"/>
                </a:solidFill>
                <a:latin typeface="Arial"/>
              </a:rPr>
              <a:t>User</a:t>
            </a:r>
          </a:p>
          <a:p>
            <a:pPr algn="ctr"/>
            <a:r>
              <a:rPr sz="1300" b="1" i="0" dirty="0">
                <a:solidFill>
                  <a:srgbClr val="1E2761"/>
                </a:solidFill>
                <a:latin typeface="Arial"/>
              </a:rPr>
              <a:t>Types a Query</a:t>
            </a:r>
          </a:p>
          <a:p>
            <a:pPr algn="ctr">
              <a:spcBef>
                <a:spcPts val="300"/>
              </a:spcBef>
            </a:pPr>
            <a:r>
              <a:rPr sz="1000" b="0" i="0" dirty="0">
                <a:solidFill>
                  <a:srgbClr val="1E2761"/>
                </a:solidFill>
                <a:latin typeface="Arial"/>
              </a:rPr>
              <a:t>Any language,</a:t>
            </a:r>
          </a:p>
          <a:p>
            <a:pPr algn="ctr">
              <a:spcBef>
                <a:spcPts val="300"/>
              </a:spcBef>
            </a:pPr>
            <a:r>
              <a:rPr sz="1000" b="0" i="0" dirty="0">
                <a:solidFill>
                  <a:srgbClr val="1E2761"/>
                </a:solidFill>
                <a:latin typeface="Arial"/>
              </a:rPr>
              <a:t>plain text</a:t>
            </a:r>
            <a:r>
              <a:rPr lang="en-US" sz="1000" b="0" i="0" dirty="0">
                <a:solidFill>
                  <a:srgbClr val="1E2761"/>
                </a:solidFill>
                <a:latin typeface="Arial"/>
              </a:rPr>
              <a:t> along an </a:t>
            </a:r>
          </a:p>
          <a:p>
            <a:pPr algn="ctr">
              <a:spcBef>
                <a:spcPts val="300"/>
              </a:spcBef>
            </a:pPr>
            <a:r>
              <a:rPr lang="en-US" sz="1000" dirty="0">
                <a:solidFill>
                  <a:srgbClr val="1E2761"/>
                </a:solidFill>
                <a:latin typeface="Arial"/>
              </a:rPr>
              <a:t>image</a:t>
            </a:r>
            <a:endParaRPr sz="1000" b="0" i="0" dirty="0">
              <a:solidFill>
                <a:srgbClr val="1E2761"/>
              </a:solidFill>
              <a:latin typeface="Arial"/>
            </a:endParaRPr>
          </a:p>
        </p:txBody>
      </p:sp>
      <p:sp>
        <p:nvSpPr>
          <p:cNvPr id="17414" name="Right Arrow 17413"/>
          <p:cNvSpPr/>
          <p:nvPr/>
        </p:nvSpPr>
        <p:spPr>
          <a:xfrm>
            <a:off x="2577000" y="5935754"/>
            <a:ext cx="184000" cy="140000"/>
          </a:xfrm>
          <a:prstGeom prst="rightArrow">
            <a:avLst/>
          </a:prstGeom>
          <a:solidFill>
            <a:srgbClr val="E89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415" name="Rounded Rectangle 17414"/>
          <p:cNvSpPr/>
          <p:nvPr/>
        </p:nvSpPr>
        <p:spPr>
          <a:xfrm>
            <a:off x="2834000" y="5410581"/>
            <a:ext cx="2104000" cy="120000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Arial"/>
              </a:rPr>
              <a:t>AI Agent</a:t>
            </a:r>
          </a:p>
          <a:p>
            <a:pPr algn="ctr"/>
            <a:r>
              <a:rPr sz="1300" b="1" i="0" dirty="0">
                <a:solidFill>
                  <a:srgbClr val="FFFFFF"/>
                </a:solidFill>
                <a:latin typeface="Arial"/>
              </a:rPr>
              <a:t>Reads It</a:t>
            </a:r>
          </a:p>
          <a:p>
            <a:pPr algn="ctr">
              <a:spcBef>
                <a:spcPts val="300"/>
              </a:spcBef>
            </a:pPr>
            <a:r>
              <a:rPr sz="1000" b="0" i="0" dirty="0">
                <a:solidFill>
                  <a:srgbClr val="FFFFFF"/>
                </a:solidFill>
                <a:latin typeface="Arial"/>
              </a:rPr>
              <a:t>Figures out what</a:t>
            </a:r>
          </a:p>
          <a:p>
            <a:pPr algn="ctr">
              <a:spcBef>
                <a:spcPts val="300"/>
              </a:spcBef>
            </a:pPr>
            <a:r>
              <a:rPr sz="1000" b="0" i="0" dirty="0">
                <a:solidFill>
                  <a:srgbClr val="FFFFFF"/>
                </a:solidFill>
                <a:latin typeface="Arial"/>
              </a:rPr>
              <a:t>tool is needed</a:t>
            </a:r>
          </a:p>
        </p:txBody>
      </p:sp>
      <p:sp>
        <p:nvSpPr>
          <p:cNvPr id="17416" name="Right Arrow 17415"/>
          <p:cNvSpPr/>
          <p:nvPr/>
        </p:nvSpPr>
        <p:spPr>
          <a:xfrm>
            <a:off x="5025800" y="5935754"/>
            <a:ext cx="184000" cy="140000"/>
          </a:xfrm>
          <a:prstGeom prst="rightArrow">
            <a:avLst/>
          </a:prstGeom>
          <a:solidFill>
            <a:srgbClr val="E89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Rounded Rectangle 17416"/>
          <p:cNvSpPr/>
          <p:nvPr/>
        </p:nvSpPr>
        <p:spPr>
          <a:xfrm>
            <a:off x="5268000" y="5405754"/>
            <a:ext cx="2104000" cy="120000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Arial"/>
              </a:rPr>
              <a:t>Right Model</a:t>
            </a:r>
          </a:p>
          <a:p>
            <a:pPr algn="ctr"/>
            <a:r>
              <a:rPr sz="1300" b="1" i="0" dirty="0">
                <a:solidFill>
                  <a:srgbClr val="FFFFFF"/>
                </a:solidFill>
                <a:latin typeface="Arial"/>
              </a:rPr>
              <a:t>Runs</a:t>
            </a:r>
          </a:p>
          <a:p>
            <a:pPr algn="ctr">
              <a:spcBef>
                <a:spcPts val="300"/>
              </a:spcBef>
            </a:pPr>
            <a:r>
              <a:rPr sz="1000" b="0" i="0" dirty="0">
                <a:solidFill>
                  <a:srgbClr val="FFFFFF"/>
                </a:solidFill>
                <a:latin typeface="Arial"/>
              </a:rPr>
              <a:t>Classify • Detect •</a:t>
            </a:r>
          </a:p>
          <a:p>
            <a:pPr algn="ctr">
              <a:spcBef>
                <a:spcPts val="300"/>
              </a:spcBef>
            </a:pPr>
            <a:r>
              <a:rPr sz="1000" b="0" i="0" dirty="0">
                <a:solidFill>
                  <a:srgbClr val="FFFFFF"/>
                </a:solidFill>
                <a:latin typeface="Arial"/>
              </a:rPr>
              <a:t>Change • SAR-Fuse</a:t>
            </a:r>
          </a:p>
        </p:txBody>
      </p:sp>
      <p:sp>
        <p:nvSpPr>
          <p:cNvPr id="17418" name="Right Arrow 17417"/>
          <p:cNvSpPr/>
          <p:nvPr/>
        </p:nvSpPr>
        <p:spPr>
          <a:xfrm>
            <a:off x="7392800" y="5953113"/>
            <a:ext cx="184000" cy="140000"/>
          </a:xfrm>
          <a:prstGeom prst="rightArrow">
            <a:avLst/>
          </a:prstGeom>
          <a:solidFill>
            <a:srgbClr val="E89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9" name="Rounded Rectangle 17418"/>
          <p:cNvSpPr/>
          <p:nvPr/>
        </p:nvSpPr>
        <p:spPr>
          <a:xfrm>
            <a:off x="7592000" y="5410581"/>
            <a:ext cx="2104000" cy="120000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Result Is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Marked</a:t>
            </a:r>
          </a:p>
          <a:p>
            <a:pPr algn="ctr">
              <a:spcBef>
                <a:spcPts val="300"/>
              </a:spcBef>
            </a:pPr>
            <a:r>
              <a:rPr sz="1000" b="0" i="0">
                <a:solidFill>
                  <a:srgbClr val="FFFFFF"/>
                </a:solidFill>
                <a:latin typeface="Arial"/>
              </a:rPr>
              <a:t>Mask / box /</a:t>
            </a:r>
          </a:p>
          <a:p>
            <a:pPr algn="ctr">
              <a:spcBef>
                <a:spcPts val="300"/>
              </a:spcBef>
            </a:pPr>
            <a:r>
              <a:rPr sz="1000" b="0" i="0">
                <a:solidFill>
                  <a:srgbClr val="FFFFFF"/>
                </a:solidFill>
                <a:latin typeface="Arial"/>
              </a:rPr>
              <a:t>heatmap on image</a:t>
            </a:r>
          </a:p>
        </p:txBody>
      </p:sp>
      <p:sp>
        <p:nvSpPr>
          <p:cNvPr id="17420" name="Right Arrow 17419"/>
          <p:cNvSpPr/>
          <p:nvPr/>
        </p:nvSpPr>
        <p:spPr>
          <a:xfrm>
            <a:off x="9780086" y="5953113"/>
            <a:ext cx="184000" cy="140000"/>
          </a:xfrm>
          <a:prstGeom prst="rightArrow">
            <a:avLst/>
          </a:prstGeom>
          <a:solidFill>
            <a:srgbClr val="E89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1" name="Rounded Rectangle 17420"/>
          <p:cNvSpPr/>
          <p:nvPr/>
        </p:nvSpPr>
        <p:spPr>
          <a:xfrm>
            <a:off x="9996400" y="5410581"/>
            <a:ext cx="2104000" cy="12000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Answer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Shown</a:t>
            </a:r>
          </a:p>
          <a:p>
            <a:pPr algn="ctr">
              <a:spcBef>
                <a:spcPts val="300"/>
              </a:spcBef>
            </a:pPr>
            <a:r>
              <a:rPr sz="1000" b="0" i="0">
                <a:solidFill>
                  <a:srgbClr val="FFFFFF"/>
                </a:solidFill>
                <a:latin typeface="Arial"/>
              </a:rPr>
              <a:t>Plain text +</a:t>
            </a:r>
          </a:p>
          <a:p>
            <a:pPr algn="ctr">
              <a:spcBef>
                <a:spcPts val="300"/>
              </a:spcBef>
            </a:pPr>
            <a:r>
              <a:rPr sz="1000" b="0" i="0">
                <a:solidFill>
                  <a:srgbClr val="FFFFFF"/>
                </a:solidFill>
                <a:latin typeface="Arial"/>
              </a:rPr>
              <a:t>visual overlay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961C558-F64E-DA0A-6455-B27CB744BC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6207" y="1059579"/>
            <a:ext cx="4526792" cy="3830451"/>
          </a:xfrm>
          <a:prstGeom prst="rect">
            <a:avLst/>
          </a:prstGeom>
        </p:spPr>
      </p:pic>
      <p:pic>
        <p:nvPicPr>
          <p:cNvPr id="18" name="Picture 17" descr="File:Python-logo-notext.svg - Wikimedia Commons">
            <a:extLst>
              <a:ext uri="{FF2B5EF4-FFF2-40B4-BE49-F238E27FC236}">
                <a16:creationId xmlns:a16="http://schemas.microsoft.com/office/drawing/2014/main" id="{BCACC821-722D-4987-E297-ED7AC5F8D5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6000" y="1996079"/>
            <a:ext cx="243548" cy="243548"/>
          </a:xfrm>
          <a:prstGeom prst="rect">
            <a:avLst/>
          </a:prstGeom>
        </p:spPr>
      </p:pic>
      <p:pic>
        <p:nvPicPr>
          <p:cNvPr id="21" name="Picture 20" descr="React (software) - Wikipedia">
            <a:extLst>
              <a:ext uri="{FF2B5EF4-FFF2-40B4-BE49-F238E27FC236}">
                <a16:creationId xmlns:a16="http://schemas.microsoft.com/office/drawing/2014/main" id="{6AA1AB7A-CC31-9E30-6740-EDC69EEB58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2263" y="1713203"/>
            <a:ext cx="266933" cy="243548"/>
          </a:xfrm>
          <a:prstGeom prst="rect">
            <a:avLst/>
          </a:prstGeom>
        </p:spPr>
      </p:pic>
      <p:pic>
        <p:nvPicPr>
          <p:cNvPr id="23" name="Picture 22" descr="Hugging Face full logo transparent PNG - StickPNG">
            <a:extLst>
              <a:ext uri="{FF2B5EF4-FFF2-40B4-BE49-F238E27FC236}">
                <a16:creationId xmlns:a16="http://schemas.microsoft.com/office/drawing/2014/main" id="{FAA24D92-EC7D-E3E3-B188-3F2F263AA2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5978" y="2776981"/>
            <a:ext cx="599308" cy="30051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49212DE-0787-8FF2-7FA6-989007A7553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15745" y="3854324"/>
            <a:ext cx="542550" cy="380150"/>
          </a:xfrm>
          <a:prstGeom prst="rect">
            <a:avLst/>
          </a:prstGeom>
        </p:spPr>
      </p:pic>
      <p:pic>
        <p:nvPicPr>
          <p:cNvPr id="28" name="Picture 27" descr="Stream NASA | Listen to podcast episodes online for free on SoundCloud">
            <a:extLst>
              <a:ext uri="{FF2B5EF4-FFF2-40B4-BE49-F238E27FC236}">
                <a16:creationId xmlns:a16="http://schemas.microsoft.com/office/drawing/2014/main" id="{9A980F2E-3397-DB2E-11E5-704D533C6DE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7429" y="3283975"/>
            <a:ext cx="363764" cy="363764"/>
          </a:xfrm>
          <a:prstGeom prst="rect">
            <a:avLst/>
          </a:prstGeom>
        </p:spPr>
      </p:pic>
      <p:pic>
        <p:nvPicPr>
          <p:cNvPr id="29" name="Picture 28" descr="OpenAI Logo and symbol, meaning, history, PNG, brand">
            <a:extLst>
              <a:ext uri="{FF2B5EF4-FFF2-40B4-BE49-F238E27FC236}">
                <a16:creationId xmlns:a16="http://schemas.microsoft.com/office/drawing/2014/main" id="{FABA4351-966E-EB10-0BC1-8E51A20FF55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53681" y="4391864"/>
            <a:ext cx="885630" cy="498166"/>
          </a:xfrm>
          <a:prstGeom prst="rect">
            <a:avLst/>
          </a:prstGeom>
        </p:spPr>
      </p:pic>
      <p:pic>
        <p:nvPicPr>
          <p:cNvPr id="30" name="Picture 29" descr="BigDATAwire - Data Science • AI • Advanced Analytics">
            <a:extLst>
              <a:ext uri="{FF2B5EF4-FFF2-40B4-BE49-F238E27FC236}">
                <a16:creationId xmlns:a16="http://schemas.microsoft.com/office/drawing/2014/main" id="{05C0C53F-ADAB-BBA7-4AA2-69FF6BE6C5C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26450" y="4456506"/>
            <a:ext cx="542550" cy="3708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00000" y="1300000"/>
            <a:ext cx="11400000" cy="8669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1" i="0" dirty="0">
                <a:solidFill>
                  <a:srgbClr val="1E2761"/>
                </a:solidFill>
                <a:latin typeface="Arial"/>
              </a:rPr>
              <a:t>Feasibility</a:t>
            </a:r>
          </a:p>
          <a:p>
            <a:pPr marL="228600" indent="-228600" algn="l">
              <a:spcAft>
                <a:spcPts val="600"/>
              </a:spcAft>
              <a:buFont typeface="Arial" pitchFamily="34" charset="0"/>
              <a:buChar char="•"/>
            </a:pPr>
            <a:r>
              <a:rPr lang="en-IN" sz="1300" dirty="0">
                <a:solidFill>
                  <a:srgbClr val="333333"/>
                </a:solidFill>
                <a:latin typeface="Arial"/>
              </a:rPr>
              <a:t>If the model fails, there a classical CV fallback model that acts as a backup and provide accurate results</a:t>
            </a:r>
            <a:r>
              <a:rPr lang="en-IN" sz="1300" b="0" i="0" dirty="0">
                <a:solidFill>
                  <a:srgbClr val="333333"/>
                </a:solidFill>
                <a:latin typeface="Arial"/>
              </a:rPr>
              <a:t>.</a:t>
            </a:r>
            <a:endParaRPr sz="1300" b="0" i="0" dirty="0">
              <a:solidFill>
                <a:srgbClr val="333333"/>
              </a:solidFill>
              <a:latin typeface="Arial"/>
            </a:endParaRPr>
          </a:p>
          <a:p>
            <a:pPr marL="228600" indent="-228600" algn="l">
              <a:spcAft>
                <a:spcPts val="0"/>
              </a:spcAft>
              <a:buFont typeface="Arial" pitchFamily="34" charset="0"/>
              <a:buChar char="•"/>
            </a:pPr>
            <a:r>
              <a:rPr sz="1300" b="0" i="0" dirty="0">
                <a:solidFill>
                  <a:srgbClr val="333333"/>
                </a:solidFill>
                <a:latin typeface="Arial"/>
              </a:rPr>
              <a:t>All data is free and public: Sentinel-1/2, LEVIR-CD, RSVQA, SEN12MS  |  Runs </a:t>
            </a:r>
            <a:r>
              <a:rPr lang="en-IN" sz="1300" dirty="0">
                <a:solidFill>
                  <a:srgbClr val="333333"/>
                </a:solidFill>
                <a:latin typeface="Arial"/>
              </a:rPr>
              <a:t>anywhere</a:t>
            </a:r>
            <a:r>
              <a:rPr sz="1300" b="0" i="0" dirty="0">
                <a:solidFill>
                  <a:srgbClr val="333333"/>
                </a:solidFill>
                <a:latin typeface="Arial"/>
              </a:rPr>
              <a:t>, no special hardware needed</a:t>
            </a:r>
            <a:r>
              <a:rPr lang="en-IN" sz="1300" b="0" i="0" dirty="0">
                <a:solidFill>
                  <a:srgbClr val="333333"/>
                </a:solidFill>
                <a:latin typeface="Arial"/>
              </a:rPr>
              <a:t>.</a:t>
            </a:r>
            <a:endParaRPr sz="1300" b="0" i="0" dirty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79366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Heisenbugs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400000" y="2550000"/>
            <a:ext cx="11400000" cy="4000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CHALLENGES WE EXPECT, AND HOW WE PLAN TO HANDLE THEM</a:t>
            </a:r>
          </a:p>
        </p:txBody>
      </p:sp>
      <p:graphicFrame>
        <p:nvGraphicFramePr>
          <p:cNvPr id="17412" name="Table 17411"/>
          <p:cNvGraphicFramePr>
            <a:graphicFrameLocks noGrp="1"/>
          </p:cNvGraphicFramePr>
          <p:nvPr/>
        </p:nvGraphicFramePr>
        <p:xfrm>
          <a:off x="400000" y="3040000"/>
          <a:ext cx="11400000" cy="2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000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Challenge</a:t>
                      </a:r>
                    </a:p>
                  </a:txBody>
                  <a:tcPr marT="27432" marB="27432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Our Plan</a:t>
                      </a:r>
                    </a:p>
                  </a:txBody>
                  <a:tcPr marT="27432" marB="27432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0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E2761"/>
                          </a:solidFill>
                          <a:latin typeface="Arial"/>
                        </a:rPr>
                        <a:t>Radar and optical images don't line up perfectly — different sensors, different geometry</a:t>
                      </a:r>
                    </a:p>
                  </a:txBody>
                  <a:tcPr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333333"/>
                          </a:solidFill>
                          <a:latin typeface="Arial"/>
                        </a:rPr>
                        <a:t>Align them using SIFT/ORB feature matching, and warn the user if the alignment quality is low</a:t>
                      </a:r>
                    </a:p>
                  </a:txBody>
                  <a:tcPr marT="36576" marB="36576"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00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E2761"/>
                          </a:solidFill>
                          <a:latin typeface="Arial"/>
                        </a:rPr>
                        <a:t>Running 3-4 models plus an LLM together can be slow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333333"/>
                          </a:solidFill>
                          <a:latin typeface="Arial"/>
                        </a:rPr>
                        <a:t>Keep the models light, run them in parallel, use a free T4 GPU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00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E2761"/>
                          </a:solidFill>
                          <a:latin typeface="Arial"/>
                        </a:rPr>
                        <a:t>Pixel-perfect change maps are still an open research problem</a:t>
                      </a:r>
                    </a:p>
                  </a:txBody>
                  <a:tcPr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333333"/>
                          </a:solidFill>
                          <a:latin typeface="Arial"/>
                        </a:rPr>
                        <a:t>Show an approximate change area for now, and say clearly that it's approximate</a:t>
                      </a:r>
                    </a:p>
                  </a:txBody>
                  <a:tcPr marT="36576" marB="36576"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00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E2761"/>
                          </a:solidFill>
                          <a:latin typeface="Arial"/>
                        </a:rPr>
                        <a:t>There's no ready-made dataset for teaching the AI which tool to call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333333"/>
                          </a:solidFill>
                          <a:latin typeface="Arial"/>
                        </a:rPr>
                        <a:t>Guide it with careful prompting instead of training a separate routing model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00000" y="1300000"/>
            <a:ext cx="11400000" cy="95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1" i="0">
                <a:solidFill>
                  <a:srgbClr val="1E2761"/>
                </a:solidFill>
                <a:latin typeface="Arial"/>
              </a:rPr>
              <a:t>Who Benefits</a:t>
            </a:r>
          </a:p>
          <a:p>
            <a:pPr marL="228600" indent="-228600" algn="l">
              <a:spcAft>
                <a:spcPts val="0"/>
              </a:spcAft>
              <a:buFont typeface="Arial" pitchFamily="34" charset="0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Disaster teams, defense and urban bodies, farmers, and researchers can all ask a question and get an answer straight away — no GIS training, no waiting on a specialist analyst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0382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Heisenbugs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400000" y="2400000"/>
            <a:ext cx="11400000" cy="4000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REAL-WORLD IMPACT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00000" y="2980000"/>
            <a:ext cx="5600000" cy="1350000"/>
          </a:xfrm>
          <a:prstGeom prst="roundRect">
            <a:avLst/>
          </a:prstGeom>
          <a:solidFill>
            <a:srgbClr val="F2F4F8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l"/>
            <a:r>
              <a:rPr sz="1400" b="1" i="0">
                <a:solidFill>
                  <a:srgbClr val="0070C0"/>
                </a:solidFill>
                <a:latin typeface="Arial"/>
              </a:rPr>
              <a:t>Economic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333333"/>
                </a:solidFill>
                <a:latin typeface="Arial"/>
              </a:rPr>
              <a:t>Crop-insurance checks and infrastructure audits take minutes, not days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200000" y="2980000"/>
            <a:ext cx="5600000" cy="1350000"/>
          </a:xfrm>
          <a:prstGeom prst="roundRect">
            <a:avLst/>
          </a:prstGeom>
          <a:solidFill>
            <a:srgbClr val="F2F4F8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l"/>
            <a:r>
              <a:rPr sz="1400" b="1" i="0">
                <a:solidFill>
                  <a:srgbClr val="1E2761"/>
                </a:solidFill>
                <a:latin typeface="Arial"/>
              </a:rPr>
              <a:t>Social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333333"/>
                </a:solidFill>
                <a:latin typeface="Arial"/>
              </a:rPr>
              <a:t>Puts ISRO-grade satellite data in the hands of ordinary citizens and local officials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00000" y="4530000"/>
            <a:ext cx="5600000" cy="1350000"/>
          </a:xfrm>
          <a:prstGeom prst="roundRect">
            <a:avLst/>
          </a:prstGeom>
          <a:solidFill>
            <a:srgbClr val="F2F4F8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l"/>
            <a:r>
              <a:rPr sz="1400" b="1" i="0">
                <a:solidFill>
                  <a:srgbClr val="0070C0"/>
                </a:solidFill>
                <a:latin typeface="Arial"/>
              </a:rPr>
              <a:t>Environmental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333333"/>
                </a:solidFill>
                <a:latin typeface="Arial"/>
              </a:rPr>
              <a:t>Spot deforestation, shrinking water bodies, and flood or cyclone damage faster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200000" y="4530000"/>
            <a:ext cx="5600000" cy="1350000"/>
          </a:xfrm>
          <a:prstGeom prst="roundRect">
            <a:avLst/>
          </a:prstGeom>
          <a:solidFill>
            <a:srgbClr val="F2F4F8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l"/>
            <a:r>
              <a:rPr sz="1400" b="1" i="0">
                <a:solidFill>
                  <a:srgbClr val="1E2761"/>
                </a:solidFill>
                <a:latin typeface="Arial"/>
              </a:rPr>
              <a:t>Strategic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333333"/>
                </a:solidFill>
                <a:latin typeface="Arial"/>
              </a:rPr>
              <a:t>Radar sees through clouds and darkness, so monitoring never stops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00000" y="1400000"/>
            <a:ext cx="11400000" cy="46012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b="1" i="0" dirty="0">
                <a:solidFill>
                  <a:srgbClr val="1E2761"/>
                </a:solidFill>
                <a:latin typeface="Arial"/>
              </a:rPr>
              <a:t>What We Read and Built On</a:t>
            </a:r>
            <a:endParaRPr lang="en-IN" b="1" i="0" dirty="0">
              <a:solidFill>
                <a:srgbClr val="1E2761"/>
              </a:solidFill>
              <a:latin typeface="Arial"/>
            </a:endParaRPr>
          </a:p>
          <a:p>
            <a:pPr algn="l">
              <a:spcAft>
                <a:spcPts val="400"/>
              </a:spcAft>
              <a:buNone/>
            </a:pPr>
            <a:endParaRPr b="1" i="0" dirty="0">
              <a:solidFill>
                <a:srgbClr val="1E2761"/>
              </a:solidFill>
              <a:latin typeface="Arial"/>
            </a:endParaRPr>
          </a:p>
          <a:p>
            <a:pPr marL="228600" indent="-228600" algn="l">
              <a:spcAft>
                <a:spcPts val="1000"/>
              </a:spcAft>
              <a:buFont typeface="Arial" pitchFamily="34" charset="0"/>
              <a:buChar char="•"/>
            </a:pPr>
            <a:r>
              <a:rPr sz="1600" b="1" i="0" dirty="0">
                <a:solidFill>
                  <a:srgbClr val="1E2761"/>
                </a:solidFill>
                <a:latin typeface="Arial"/>
              </a:rPr>
              <a:t>RSVQA — Remote Sensing VQA dataset &amp; paper</a:t>
            </a:r>
          </a:p>
          <a:p>
            <a:pPr marL="228600">
              <a:spcAft>
                <a:spcPts val="200"/>
              </a:spcAft>
            </a:pPr>
            <a:r>
              <a:rPr lang="en-IN" sz="1600" i="1" dirty="0">
                <a:solidFill>
                  <a:srgbClr val="606060"/>
                </a:solidFill>
                <a:latin typeface="Arial"/>
                <a:hlinkClick r:id="rId3"/>
              </a:rPr>
              <a:t>https://rsvqa.sylvainlobry.com/  </a:t>
            </a:r>
            <a:r>
              <a:rPr lang="en-IN" sz="1600" i="1" dirty="0">
                <a:solidFill>
                  <a:srgbClr val="606060"/>
                </a:solidFill>
                <a:latin typeface="Arial"/>
              </a:rPr>
              <a:t>•  </a:t>
            </a:r>
            <a:r>
              <a:rPr lang="en-IN" sz="1600" b="0" i="1" dirty="0">
                <a:solidFill>
                  <a:srgbClr val="606060"/>
                </a:solidFill>
                <a:latin typeface="Arial"/>
                <a:hlinkClick r:id="rId4" action="ppaction://hlinkfile"/>
              </a:rPr>
              <a:t>arxiv.org/abs/2003.07333</a:t>
            </a:r>
            <a:endParaRPr lang="en-IN" sz="1600" b="0" i="1" dirty="0">
              <a:solidFill>
                <a:srgbClr val="606060"/>
              </a:solidFill>
              <a:latin typeface="Arial"/>
            </a:endParaRPr>
          </a:p>
          <a:p>
            <a:pPr marL="228600" indent="-228600" algn="l">
              <a:spcAft>
                <a:spcPts val="1000"/>
              </a:spcAft>
              <a:buFont typeface="Arial" pitchFamily="34" charset="0"/>
              <a:buChar char="•"/>
            </a:pPr>
            <a:r>
              <a:rPr sz="1600" b="1" i="0" dirty="0" err="1">
                <a:solidFill>
                  <a:srgbClr val="1E2761"/>
                </a:solidFill>
                <a:latin typeface="Arial"/>
              </a:rPr>
              <a:t>GeoChat</a:t>
            </a:r>
            <a:r>
              <a:rPr sz="1600" b="1" i="0" dirty="0">
                <a:solidFill>
                  <a:srgbClr val="1E2761"/>
                </a:solidFill>
                <a:latin typeface="Arial"/>
              </a:rPr>
              <a:t> — grounded remote-sensing vision-language model</a:t>
            </a:r>
          </a:p>
          <a:p>
            <a:pPr marL="228600" indent="0" algn="l">
              <a:spcAft>
                <a:spcPts val="200"/>
              </a:spcAft>
              <a:buNone/>
            </a:pPr>
            <a:r>
              <a:rPr sz="1600" b="0" i="1" dirty="0">
                <a:solidFill>
                  <a:srgbClr val="0000FF"/>
                </a:solidFill>
                <a:latin typeface="Arial"/>
                <a:hlinkClick r:id="rId5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</a:t>
            </a:r>
            <a:r>
              <a:rPr sz="1600" b="0" i="1" dirty="0" err="1">
                <a:solidFill>
                  <a:srgbClr val="0000FF"/>
                </a:solidFill>
                <a:latin typeface="Arial"/>
                <a:hlinkClick r:id="rId5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mbzuai</a:t>
            </a:r>
            <a:r>
              <a:rPr sz="1600" b="0" i="1" dirty="0">
                <a:solidFill>
                  <a:srgbClr val="0000FF"/>
                </a:solidFill>
                <a:latin typeface="Arial"/>
                <a:hlinkClick r:id="rId5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-oryx/</a:t>
            </a:r>
            <a:r>
              <a:rPr sz="1600" b="0" i="1" dirty="0" err="1">
                <a:solidFill>
                  <a:srgbClr val="0000FF"/>
                </a:solidFill>
                <a:latin typeface="Arial"/>
                <a:hlinkClick r:id="rId5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GeoChat</a:t>
            </a:r>
            <a:r>
              <a:rPr sz="1600" b="0" i="1" dirty="0">
                <a:solidFill>
                  <a:srgbClr val="7030A0"/>
                </a:solidFill>
                <a:latin typeface="Arial"/>
                <a:hlinkClick r:id="rId5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</a:t>
            </a:r>
            <a:r>
              <a:rPr sz="1600" b="0" i="1" dirty="0">
                <a:solidFill>
                  <a:srgbClr val="606060"/>
                </a:solidFill>
                <a:latin typeface="Arial"/>
              </a:rPr>
              <a:t>•  </a:t>
            </a:r>
            <a:r>
              <a:rPr sz="1600" b="0" i="1" dirty="0">
                <a:solidFill>
                  <a:srgbClr val="606060"/>
                </a:solidFill>
                <a:latin typeface="Arial"/>
                <a:hlinkClick r:id="rId6" action="ppaction://hlinkfile"/>
              </a:rPr>
              <a:t>arxiv.org/abs/2311.15826</a:t>
            </a:r>
            <a:endParaRPr sz="1600" b="0" i="1" dirty="0">
              <a:solidFill>
                <a:srgbClr val="606060"/>
              </a:solidFill>
              <a:latin typeface="Arial"/>
            </a:endParaRPr>
          </a:p>
          <a:p>
            <a:pPr marL="228600" indent="-228600" algn="l">
              <a:spcAft>
                <a:spcPts val="1000"/>
              </a:spcAft>
              <a:buFont typeface="Arial" pitchFamily="34" charset="0"/>
              <a:buChar char="•"/>
            </a:pPr>
            <a:r>
              <a:rPr sz="1600" b="1" i="0" dirty="0">
                <a:solidFill>
                  <a:srgbClr val="1E2761"/>
                </a:solidFill>
                <a:latin typeface="Arial"/>
              </a:rPr>
              <a:t>RS-Agent — agentic remote-sensing orchestration architecture</a:t>
            </a:r>
          </a:p>
          <a:p>
            <a:pPr marL="228600" indent="0" algn="l">
              <a:spcAft>
                <a:spcPts val="200"/>
              </a:spcAft>
              <a:buNone/>
            </a:pPr>
            <a:r>
              <a:rPr sz="1600" b="0" i="1" dirty="0">
                <a:solidFill>
                  <a:srgbClr val="606060"/>
                </a:solidFill>
                <a:latin typeface="Arial"/>
                <a:hlinkClick r:id="rId7" action="ppaction://hlinkfile"/>
              </a:rPr>
              <a:t>github.com/</a:t>
            </a:r>
            <a:r>
              <a:rPr sz="1600" b="0" i="1" dirty="0" err="1">
                <a:solidFill>
                  <a:srgbClr val="606060"/>
                </a:solidFill>
                <a:latin typeface="Arial"/>
                <a:hlinkClick r:id="rId7" action="ppaction://hlinkfile"/>
              </a:rPr>
              <a:t>intellisensing</a:t>
            </a:r>
            <a:r>
              <a:rPr sz="1600" b="0" i="1" dirty="0">
                <a:solidFill>
                  <a:srgbClr val="606060"/>
                </a:solidFill>
                <a:latin typeface="Arial"/>
                <a:hlinkClick r:id="rId7" action="ppaction://hlinkfile"/>
              </a:rPr>
              <a:t>/</a:t>
            </a:r>
            <a:r>
              <a:rPr sz="1600" b="0" i="1" dirty="0" err="1">
                <a:solidFill>
                  <a:srgbClr val="606060"/>
                </a:solidFill>
                <a:latin typeface="Arial"/>
                <a:hlinkClick r:id="rId7" action="ppaction://hlinkfile"/>
              </a:rPr>
              <a:t>rs</a:t>
            </a:r>
            <a:r>
              <a:rPr sz="1600" b="0" i="1" dirty="0">
                <a:solidFill>
                  <a:srgbClr val="606060"/>
                </a:solidFill>
                <a:latin typeface="Arial"/>
                <a:hlinkClick r:id="rId7" action="ppaction://hlinkfile"/>
              </a:rPr>
              <a:t>-agent </a:t>
            </a:r>
            <a:r>
              <a:rPr sz="1600" b="0" i="1" dirty="0">
                <a:solidFill>
                  <a:srgbClr val="606060"/>
                </a:solidFill>
                <a:latin typeface="Arial"/>
              </a:rPr>
              <a:t> •  </a:t>
            </a:r>
            <a:r>
              <a:rPr sz="1600" b="0" i="1" dirty="0">
                <a:solidFill>
                  <a:srgbClr val="606060"/>
                </a:solidFill>
                <a:latin typeface="Arial"/>
                <a:hlinkClick r:id="rId8" action="ppaction://hlinkfile"/>
              </a:rPr>
              <a:t>arxiv.org/abs/2406.07089</a:t>
            </a:r>
            <a:endParaRPr sz="1600" b="0" i="1" dirty="0">
              <a:solidFill>
                <a:srgbClr val="606060"/>
              </a:solidFill>
              <a:latin typeface="Arial"/>
            </a:endParaRPr>
          </a:p>
          <a:p>
            <a:pPr marL="228600" indent="-228600" algn="l">
              <a:spcAft>
                <a:spcPts val="1000"/>
              </a:spcAft>
              <a:buFont typeface="Arial" pitchFamily="34" charset="0"/>
              <a:buChar char="•"/>
            </a:pPr>
            <a:r>
              <a:rPr sz="1600" b="1" i="0" dirty="0">
                <a:solidFill>
                  <a:srgbClr val="1E2761"/>
                </a:solidFill>
                <a:latin typeface="Arial"/>
              </a:rPr>
              <a:t>LEVIR-CD / WHU-CD — bi-temporal building change-detection benchmarks</a:t>
            </a:r>
          </a:p>
          <a:p>
            <a:pPr marL="228600" indent="0" algn="l">
              <a:spcAft>
                <a:spcPts val="200"/>
              </a:spcAft>
              <a:buNone/>
            </a:pPr>
            <a:r>
              <a:rPr sz="1600" b="0" i="1" dirty="0">
                <a:solidFill>
                  <a:srgbClr val="606060"/>
                </a:solidFill>
                <a:latin typeface="Arial"/>
              </a:rPr>
              <a:t>0.5m resolution, 637 image pairs (Google Earth)</a:t>
            </a:r>
          </a:p>
          <a:p>
            <a:pPr marL="228600" indent="-228600" algn="l">
              <a:spcAft>
                <a:spcPts val="1000"/>
              </a:spcAft>
              <a:buFont typeface="Arial" pitchFamily="34" charset="0"/>
              <a:buChar char="•"/>
            </a:pPr>
            <a:r>
              <a:rPr sz="1600" b="1" i="0" dirty="0">
                <a:solidFill>
                  <a:srgbClr val="1E2761"/>
                </a:solidFill>
                <a:latin typeface="Arial"/>
              </a:rPr>
              <a:t>SEN1-2 / SEN12MS — curated SAR–optical fusion datasets</a:t>
            </a:r>
          </a:p>
          <a:p>
            <a:pPr marL="228600" indent="0" algn="l">
              <a:spcAft>
                <a:spcPts val="200"/>
              </a:spcAft>
              <a:buNone/>
            </a:pPr>
            <a:r>
              <a:rPr sz="1600" b="0" i="1" dirty="0">
                <a:solidFill>
                  <a:srgbClr val="606060"/>
                </a:solidFill>
                <a:latin typeface="Arial"/>
                <a:hlinkClick r:id="rId9" action="ppaction://hlinkfile"/>
              </a:rPr>
              <a:t>mediatum.ub.tum.de </a:t>
            </a:r>
            <a:r>
              <a:rPr sz="1600" b="0" i="1" dirty="0">
                <a:solidFill>
                  <a:srgbClr val="606060"/>
                </a:solidFill>
                <a:latin typeface="Arial"/>
              </a:rPr>
              <a:t>(TU Munich)</a:t>
            </a:r>
          </a:p>
          <a:p>
            <a:pPr marL="228600" indent="-228600" algn="l">
              <a:spcAft>
                <a:spcPts val="1000"/>
              </a:spcAft>
              <a:buFont typeface="Arial" pitchFamily="34" charset="0"/>
              <a:buChar char="•"/>
            </a:pPr>
            <a:r>
              <a:rPr sz="1600" b="1" i="0" dirty="0">
                <a:solidFill>
                  <a:srgbClr val="1E2761"/>
                </a:solidFill>
                <a:latin typeface="Arial"/>
              </a:rPr>
              <a:t>ISRO Bhuvan / VEDAS — national EO data &amp; value-added products</a:t>
            </a:r>
          </a:p>
          <a:p>
            <a:pPr marL="228600" indent="0" algn="l">
              <a:spcAft>
                <a:spcPts val="200"/>
              </a:spcAft>
              <a:buNone/>
            </a:pPr>
            <a:r>
              <a:rPr sz="1600" b="0" i="1" dirty="0">
                <a:solidFill>
                  <a:srgbClr val="606060"/>
                </a:solidFill>
                <a:latin typeface="Arial"/>
                <a:hlinkClick r:id="rId10" action="ppaction://hlinkfile"/>
              </a:rPr>
              <a:t>bhuvan.nrsc.gov.in</a:t>
            </a:r>
            <a:endParaRPr sz="1600" b="0" i="1" dirty="0">
              <a:solidFill>
                <a:srgbClr val="606060"/>
              </a:solidFill>
              <a:latin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b="1" dirty="0">
                <a:solidFill>
                  <a:prstClr val="white"/>
                </a:solidFill>
                <a:latin typeface="TradeGothic" pitchFamily="1" charset="0"/>
                <a:ea typeface="ＭＳ Ｐゴシック" pitchFamily="1" charset="-128"/>
              </a:rPr>
              <a:t>@SIH Idea submission- Template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2414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Heisenbugs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2" name="Picture 1" descr="Research Images - Free Download on Magnific (formerly Freepik)">
            <a:extLst>
              <a:ext uri="{FF2B5EF4-FFF2-40B4-BE49-F238E27FC236}">
                <a16:creationId xmlns:a16="http://schemas.microsoft.com/office/drawing/2014/main" id="{C513FB36-EC03-87BC-DD56-EC1DE4CCE8E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87606" y="2113280"/>
            <a:ext cx="4108786" cy="276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8471</TotalTime>
  <Words>736</Words>
  <Application>Microsoft Office PowerPoint</Application>
  <PresentationFormat>Widescreen</PresentationFormat>
  <Paragraphs>110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SatQuery AI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arshadshaik7016@outlook.com</cp:lastModifiedBy>
  <cp:revision>172</cp:revision>
  <dcterms:created xsi:type="dcterms:W3CDTF">2013-12-12T18:46:50Z</dcterms:created>
  <dcterms:modified xsi:type="dcterms:W3CDTF">2026-09-18T04:41:09Z</dcterms:modified>
  <cp:category/>
</cp:coreProperties>
</file>